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term: this is not seven separate assignments. One idea sits at the hub and everything else radiates from it. Showcase is September 19 — say it out loud on slide one so it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their sentence out on paper today, unfinished. The rest of the project is the answer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grid once. Note that 07 is optional and dashed everywhere in this deck — the other six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students toward the smallest complete thing. Finished beats ambitious-and-unfinished at the showcase.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failure: a generic logo that has nothing to do with the hero piece. Pull type, palette, and shape language out of the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 prompts are a checklist, not a structure. Read one strong statement aloud as 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not the portfolio. Its job is to let someone wander through the world instead of watching a linear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Relieve the pressure here — what carries the piece is documentation and brand consistency, not motion graphics chops.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a full week for printing and mounting. Color shifts and trim errors always take a second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but the strongest showcases usually have it — a campaign forces students to name their audience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'where do I start?' — statement first, hero second, brand third, everything else carries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date. Then hand out the checklist page from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 ·  CAPSTONE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50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in a</a:t>
            </a:r>
            <a:endParaRPr lang="en-US" sz="50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5000" b="1" i="1" dirty="0">
                <a:solidFill>
                  <a:srgbClr val="E8B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World-Building</a:t>
            </a:r>
            <a:endParaRPr lang="en-US" sz="50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50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you make answers to one idea. The hero project, the brand, the statement, the site, the video, the printed work — all of it should read as a single creative experience.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5440680"/>
            <a:ext cx="3200400" cy="658368"/>
          </a:xfrm>
          <a:prstGeom prst="roundRect">
            <a:avLst>
              <a:gd name="adj" fmla="val 5556"/>
            </a:avLst>
          </a:prstGeom>
          <a:solidFill>
            <a:srgbClr val="F5EFE1"/>
          </a:solidFill>
          <a:ln w="12700">
            <a:solidFill>
              <a:srgbClr val="F5E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40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80" kern="0" dirty="0">
                <a:solidFill>
                  <a:srgbClr val="6B6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SHOWCASE   </a:t>
            </a:r>
            <a:pPr algn="ctr" indent="0" marL="0">
              <a:buNone/>
            </a:pPr>
            <a:r>
              <a:rPr lang="en-US" sz="1700" b="1" dirty="0">
                <a:solidFill>
                  <a:srgbClr val="6D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19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rot="-5400000">
            <a:off x="8700516" y="2312518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314286">
            <a:off x="9547680" y="2720490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771429">
            <a:off x="9756913" y="3637197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3857143">
            <a:off x="9170657" y="4372339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942857">
            <a:off x="8230375" y="4372339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028571">
            <a:off x="7644119" y="3637197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3114286">
            <a:off x="7853352" y="2720490"/>
            <a:ext cx="795528" cy="10973"/>
          </a:xfrm>
          <a:prstGeom prst="rect">
            <a:avLst/>
          </a:prstGeom>
          <a:solidFill>
            <a:srgbClr val="9C5B4E"/>
          </a:solidFill>
          <a:ln w="3175">
            <a:solidFill>
              <a:srgbClr val="9C5B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2715768"/>
            <a:ext cx="1371600" cy="1371600"/>
          </a:xfrm>
          <a:prstGeom prst="ellipse">
            <a:avLst/>
          </a:prstGeom>
          <a:solidFill>
            <a:srgbClr val="6D2A21"/>
          </a:solidFill>
          <a:ln w="19050">
            <a:solidFill>
              <a:srgbClr val="F5EF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71576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spc="250" kern="0" dirty="0">
                <a:solidFill>
                  <a:srgbClr val="F5E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spc="250" kern="0" dirty="0">
                <a:solidFill>
                  <a:srgbClr val="F5E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77656" y="1133856"/>
            <a:ext cx="841248" cy="84124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F5EF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77656" y="11338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822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213208" y="1920743"/>
            <a:ext cx="658368" cy="65836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3208" y="1920743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65152" y="1609847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569874" y="3483400"/>
            <a:ext cx="658368" cy="65836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69874" y="3483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21818" y="4214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70517" y="4736553"/>
            <a:ext cx="658368" cy="65836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0517" y="4736553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22461" y="5468073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67675" y="4736553"/>
            <a:ext cx="658368" cy="65836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7675" y="4736553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19619" y="5468073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68318" y="3483400"/>
            <a:ext cx="658368" cy="65836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8318" y="3483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20262" y="4214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24984" y="1920743"/>
            <a:ext cx="658368" cy="65836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24984" y="1920743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928" y="1609847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STARTS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project should finish one of these sentences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make anything, you need a position — a statement, a feeling, an experience, a world you want to explore. Everything downstream is in service of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20440" cy="2240280"/>
          </a:xfrm>
          <a:prstGeom prst="roundRect">
            <a:avLst>
              <a:gd name="adj" fmla="val 1633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429000"/>
            <a:ext cx="548640" cy="54864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made this as a statement about…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80560" y="3200400"/>
            <a:ext cx="3520440" cy="2240280"/>
          </a:xfrm>
          <a:prstGeom prst="roundRect">
            <a:avLst>
              <a:gd name="adj" fmla="val 1633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429000"/>
            <a:ext cx="548640" cy="54864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represents my feelings or experiences around…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321040" y="3200400"/>
            <a:ext cx="3520440" cy="2240280"/>
          </a:xfrm>
          <a:prstGeom prst="roundRect">
            <a:avLst>
              <a:gd name="adj" fmla="val 1633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3429000"/>
            <a:ext cx="548640" cy="54864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41605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built this world, product, story, or brand to explore…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collection of unrelated pieces is not a Capstone.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PRESENT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parts, one experience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322576"/>
            <a:ext cx="475488" cy="475488"/>
          </a:xfrm>
          <a:prstGeom prst="ellipse">
            <a:avLst/>
          </a:prstGeom>
          <a:solidFill>
            <a:srgbClr val="8B3A2F"/>
          </a:solidFill>
          <a:ln w="15875">
            <a:solidFill>
              <a:srgbClr val="8B3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Project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77824" y="32826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centerpiece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2322576"/>
            <a:ext cx="475488" cy="47548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21024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Design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21024" y="32826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logo, type, color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2322576"/>
            <a:ext cx="475488" cy="47548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4224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 Statement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64224" y="32826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foundation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214884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07424" y="2322576"/>
            <a:ext cx="475488" cy="47548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7424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07424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Website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07424" y="32826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at your own pace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4334256"/>
            <a:ext cx="475488" cy="47548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Video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77824" y="52943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creative journey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21024" y="4334256"/>
            <a:ext cx="475488" cy="47548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21024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Printed Elements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621024" y="52943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presentation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364224" y="4334256"/>
            <a:ext cx="475488" cy="475488"/>
          </a:xfrm>
          <a:prstGeom prst="ellipse">
            <a:avLst/>
          </a:prstGeom>
          <a:solidFill>
            <a:srgbClr val="F5EFE1"/>
          </a:solidFill>
          <a:ln w="12700">
            <a:solidFill>
              <a:srgbClr val="6D2A21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6364224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64224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Campaign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364224" y="52943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869680" y="4160520"/>
            <a:ext cx="2487168" cy="1737360"/>
          </a:xfrm>
          <a:prstGeom prst="roundRect">
            <a:avLst>
              <a:gd name="adj" fmla="val 2105"/>
            </a:avLst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25712" y="45262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spc="20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SHOWCASE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19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B6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here stands alone. The showcase reads all of it as one piece.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8B3A2F"/>
          </a:solidFill>
          <a:ln w="15875">
            <a:solidFill>
              <a:srgbClr val="8B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Project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CENTERPIECE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clearest, most complete expression of the world, story, idea, product, or experience you are making. It is built directly on the theme you set in your artist statement.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it physically, digitally, or both.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4846320" cy="1371600"/>
          </a:xfrm>
          <a:prstGeom prst="roundRect">
            <a:avLst>
              <a:gd name="adj" fmla="val 266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262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rule
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someone sees only this piece, they should still understand what your project is about.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32120" cy="4023360"/>
          </a:xfrm>
          <a:prstGeom prst="roundRect">
            <a:avLst>
              <a:gd name="adj" fmla="val 909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659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MAY TAKE THE FORM OF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2377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animation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finished pages from a graphic novel — not the whole book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design or product rendering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experience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or proof of concept for a larger future project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or digital experience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or autobiographical project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format approved by the instructor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identity, pulled out of your own work, so the whole exhibit reads as a single experience.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429000" cy="3246120"/>
          </a:xfrm>
          <a:prstGeom prst="roundRect">
            <a:avLst>
              <a:gd name="adj" fmla="val 112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 INCLUDE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name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logo or wordmark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typography system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color palette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recognizable visual style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2057400"/>
            <a:ext cx="3429000" cy="3246120"/>
          </a:xfrm>
          <a:prstGeom prst="roundRect">
            <a:avLst>
              <a:gd name="adj" fmla="val 112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3317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IT ACROSS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45152" y="27432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or slideshow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materials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and display elements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campaign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2057400"/>
            <a:ext cx="3429000" cy="3246120"/>
          </a:xfrm>
          <a:prstGeom prst="roundRect">
            <a:avLst>
              <a:gd name="adj" fmla="val 1127"/>
            </a:avLst>
          </a:prstGeom>
          <a:solidFill>
            <a:srgbClr val="6D2A21"/>
          </a:solidFill>
          <a:ln w="12700">
            <a:solidFill>
              <a:srgbClr val="6D2A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331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COMES FROM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5904" y="2788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brand should not feel bolted on. It grows out of the project's own themes, imagery, characters, environments, products, and ideas.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4572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it last, from what you already made.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 Statement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thoughtful paragraphs. This is the foundation everything else stands on — it tells the audience not what you made, but why.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idea or theme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2103120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99432" y="25603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conceived and developed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2103120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30184" y="25603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represents personally, socially, culturally, creatively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02152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667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9593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world, story, brand, product, or experience you are building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70832" y="3502152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36667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99432" y="39593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you ran into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1584" y="3502152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0184" y="36667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30184" y="39593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approached or solved them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901184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657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5358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the audience to understand or feel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0832" y="4901184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50657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99432" y="5358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goal of the project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01584" y="4901184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50657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30184" y="5358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could continue or expand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Website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your personal portfolio, fully branded around the project. The interactive version of your process video — visitors explore at their own pace.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94960" cy="3154680"/>
          </a:xfrm>
          <a:prstGeom prst="roundRect">
            <a:avLst>
              <a:gd name="adj" fmla="val 1159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INCLUDE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name, logo, and visual identity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artist statement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the concept or world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hero project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visual inspiration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Sketches, thumbnails, and blockouts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Character, environment, prop, or product designs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Storyboards and process documentation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video, audio, interactive elements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gallery of final artwork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or printable materials</a:t>
            </a:r>
            <a:endParaRPr lang="en-US" sz="12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contact information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057400"/>
            <a:ext cx="5212080" cy="1691640"/>
          </a:xfrm>
          <a:prstGeom prst="roundRect">
            <a:avLst>
              <a:gd name="adj" fmla="val 2162"/>
            </a:avLst>
          </a:prstGeom>
          <a:solidFill>
            <a:srgbClr val="6D2A21"/>
          </a:solidFill>
          <a:ln w="12700">
            <a:solidFill>
              <a:srgbClr val="6D2A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digital experience — not a folder of images put online.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type, color, layout, imagery, and motion all carry the story.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977640"/>
            <a:ext cx="5212080" cy="1234440"/>
          </a:xfrm>
          <a:prstGeom prst="roundRect">
            <a:avLst>
              <a:gd name="adj" fmla="val 2963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1879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PRINTABLES MIGHT BE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9400" y="45262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 ·  character sheets  ·  activity sheets  ·  storyboards  ·  artwork  ·  project summaries or excerpts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Video or Slideshow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how the project developed and present the creative journey.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6537960" cy="3383280"/>
          </a:xfrm>
          <a:prstGeom prst="roundRect">
            <a:avLst>
              <a:gd name="adj" fmla="val 1081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INCLUDE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inspiration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ideas and rough sketches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 and blockouts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studies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and prop designs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experiments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Work-in-progress images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you hit, and how the project changed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hero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2057400"/>
            <a:ext cx="4069080" cy="3383280"/>
          </a:xfrm>
          <a:prstGeom prst="roundRect">
            <a:avLst>
              <a:gd name="adj" fmla="val 1081"/>
            </a:avLst>
          </a:prstGeom>
          <a:solidFill>
            <a:srgbClr val="6D2A21"/>
          </a:solidFill>
          <a:ln w="12700">
            <a:solidFill>
              <a:srgbClr val="6D2A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2377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B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7863840" y="3401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animation required.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863840" y="42062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slideshow with music, narration, captions, or simple motion counts. Use your logo, type, colors, and visual style throughout.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F5EFE1"/>
          </a:solidFill>
          <a:ln w="15875">
            <a:solidFill>
              <a:srgbClr val="6D2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Printed Elements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pieces that help the audience read the project, its development, and the world around the hero piece.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774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poster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219456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23774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artist statement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02352" y="219456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3774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33488" y="219456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4656" y="23774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sketches and development sheets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64624" y="219456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5792" y="237744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Character, environment, or product designs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2336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cards, postcards, flyers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71216" y="384048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402336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novel pages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02352" y="384048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02336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artwork or product renderings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33488" y="384048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402336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signs and display labels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64624" y="3840480"/>
            <a:ext cx="2011680" cy="1371600"/>
          </a:xfrm>
          <a:prstGeom prst="roundRect">
            <a:avLst>
              <a:gd name="adj" fmla="val 2667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65792" y="402336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printables offered on the site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early. Nothing looks the way you expect it to on paper.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640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Campaign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508760" y="1225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EXTENSION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0" y="731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8B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Promote, launch, or sell the hero project to a wider audience. How do people discover it, share it, or step into its world?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posts &amp; reels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5264" y="201168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438144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or trailer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70448" y="201168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53328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Guerrilla marketing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22960" y="294436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flyers, stickers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55264" y="2944368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438144" y="294436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to the site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0448" y="2944368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053328" y="294436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Shirts, buttons, totes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77056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22960" y="38770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55264" y="3877056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6D2A21"/>
          </a:solidFill>
          <a:ln w="12700">
            <a:solidFill>
              <a:srgbClr val="A2604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438144" y="38770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event or installation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Finished examples, digital mockups, or prototypes are all fine — you do not have to manufacture everything.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0" y="2011680"/>
            <a:ext cx="2862072" cy="3529584"/>
          </a:xfrm>
          <a:prstGeom prst="roundRect">
            <a:avLst>
              <a:gd name="adj" fmla="val 1278"/>
            </a:avLst>
          </a:prstGeom>
          <a:solidFill>
            <a:srgbClr val="F5EFE1"/>
          </a:solidFill>
          <a:ln w="12700">
            <a:solidFill>
              <a:srgbClr val="F5EF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24544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FOR YOURSELF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24544" y="2651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audience?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they think, feel, or do?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will they run into it?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expand the world?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24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measure interest?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ORDER OF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1828800"/>
          </a:xfrm>
          <a:prstGeom prst="roundRect">
            <a:avLst>
              <a:gd name="adj" fmla="val 20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&amp; statement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320040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everything answers 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05072" y="2926080"/>
            <a:ext cx="310896" cy="256032"/>
          </a:xfrm>
          <a:prstGeom prst="rightArrow">
            <a:avLst/>
          </a:prstGeom>
          <a:solidFill>
            <a:srgbClr val="D6CBB4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148840"/>
            <a:ext cx="3246120" cy="1828800"/>
          </a:xfrm>
          <a:prstGeom prst="roundRect">
            <a:avLst>
              <a:gd name="adj" fmla="val 2000"/>
            </a:avLst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37744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CENTERPIECE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90872" y="269748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project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0872" y="320040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fullest expression of that idea.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2926080"/>
            <a:ext cx="310896" cy="256032"/>
          </a:xfrm>
          <a:prstGeom prst="rightArrow">
            <a:avLst/>
          </a:prstGeom>
          <a:solidFill>
            <a:srgbClr val="D6CBB4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148840"/>
            <a:ext cx="3246120" cy="1828800"/>
          </a:xfrm>
          <a:prstGeom prst="roundRect">
            <a:avLst>
              <a:gd name="adj" fmla="val 2000"/>
            </a:avLst>
          </a:prstGeom>
          <a:solidFill>
            <a:srgbClr val="EBE1CC"/>
          </a:solidFill>
          <a:ln w="12700">
            <a:solidFill>
              <a:srgbClr val="D6CB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37744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85632" y="269748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identity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3200400"/>
            <a:ext cx="2734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the work you just made.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CARRIED BY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5EFE1"/>
          </a:solidFill>
          <a:ln w="12700">
            <a:solidFill>
              <a:srgbClr val="6D2A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10712" y="4709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5EFE1"/>
          </a:solidFill>
          <a:ln w="12700">
            <a:solidFill>
              <a:srgbClr val="6D2A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4709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1344" y="4709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5EFE1"/>
          </a:solidFill>
          <a:ln w="12700">
            <a:solidFill>
              <a:srgbClr val="6D2A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4709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C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51976" y="4709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5EFE1"/>
          </a:solidFill>
          <a:ln w="12700">
            <a:solidFill>
              <a:srgbClr val="D6CB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951976" y="4709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 (optional)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 OF ALL OF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finished Capstone says more than </a:t>
            </a:r>
            <a:pPr indent="0" marL="0">
              <a:lnSpc>
                <a:spcPct val="106000"/>
              </a:lnSpc>
              <a:buNone/>
            </a:pPr>
            <a:r>
              <a:rPr lang="en-US" sz="3600" b="1" i="1" dirty="0">
                <a:solidFill>
                  <a:srgbClr val="E8B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</a:t>
            </a:r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made. It says </a:t>
            </a:r>
            <a:pPr indent="0" marL="0">
              <a:lnSpc>
                <a:spcPct val="106000"/>
              </a:lnSpc>
              <a:buNone/>
            </a:pPr>
            <a:r>
              <a:rPr lang="en-US" sz="3600" b="1" i="1" dirty="0">
                <a:solidFill>
                  <a:srgbClr val="E8BC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</a:t>
            </a:r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5EF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made it, how you developed it, who it is for, and what larger idea it belongs to.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B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together, the hero project, brand, statement, website, process video, printed work, and campaign should feel like parts of one 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" y="5065776"/>
            <a:ext cx="566928" cy="566928"/>
          </a:xfrm>
          <a:prstGeom prst="ellipse">
            <a:avLst/>
          </a:prstGeom>
          <a:solidFill>
            <a:srgbClr val="F5EFE1"/>
          </a:solidFill>
          <a:ln w="15875">
            <a:solidFill>
              <a:srgbClr val="F5E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80744" y="5065776"/>
            <a:ext cx="566928" cy="56692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0744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0552" y="5065776"/>
            <a:ext cx="566928" cy="56692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5065776"/>
            <a:ext cx="566928" cy="56692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0168" y="5065776"/>
            <a:ext cx="566928" cy="56692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5065776"/>
            <a:ext cx="566928" cy="56692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9784" y="5065776"/>
            <a:ext cx="566928" cy="566928"/>
          </a:xfrm>
          <a:prstGeom prst="ellipse">
            <a:avLst/>
          </a:prstGeom>
          <a:solidFill>
            <a:srgbClr val="6D2A21"/>
          </a:solidFill>
          <a:ln w="15875">
            <a:solidFill>
              <a:srgbClr val="E8BC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C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5029200"/>
            <a:ext cx="3429000" cy="685800"/>
          </a:xfrm>
          <a:prstGeom prst="roundRect">
            <a:avLst>
              <a:gd name="adj" fmla="val 5333"/>
            </a:avLst>
          </a:prstGeom>
          <a:solidFill>
            <a:srgbClr val="F5EFE1"/>
          </a:solidFill>
          <a:ln w="12700">
            <a:solidFill>
              <a:srgbClr val="F5EF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50292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80" kern="0" dirty="0">
                <a:solidFill>
                  <a:srgbClr val="6B6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SHOWCASE   </a:t>
            </a:r>
            <a:pPr algn="ctr" indent="0" marL="0">
              <a:buNone/>
            </a:pPr>
            <a:r>
              <a:rPr lang="en-US" sz="1700" b="1" dirty="0">
                <a:solidFill>
                  <a:srgbClr val="6D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 19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pLAtform / Ryman Arts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Capstone: Creating in a World-Building Context</dc:title>
  <dc:subject>PptxGenJS Presentation</dc:subject>
  <dc:creator>Joe Micallef</dc:creator>
  <cp:lastModifiedBy>Joe Micallef</cp:lastModifiedBy>
  <cp:revision>1</cp:revision>
  <dcterms:created xsi:type="dcterms:W3CDTF">2026-07-25T12:32:42Z</dcterms:created>
  <dcterms:modified xsi:type="dcterms:W3CDTF">2026-07-25T12:32:42Z</dcterms:modified>
</cp:coreProperties>
</file>